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15"/>
    <p:sldId id="2147470502" r:id="rId16"/>
    <p:sldId id="2147470503" r:id="rId17"/>
    <p:sldId id="2147470504" r:id="rId18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Next-tactic prediction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Top-1</c:v>
                </c:pt>
              </c:strCache>
            </c:strRef>
          </c:tx>
          <c:spPr>
            <a:solidFill>
              <a:srgbClr val="8FA8C8"/>
            </a:solidFill>
          </c:spPr>
          <c:cat>
            <c:strRef>
              <c:f>Sheet1!$A$2:$A$4</c:f>
              <c:strCache>
                <c:ptCount val="3"/>
                <c:pt idx="0">
                  <c:v>Frequency</c:v>
                </c:pt>
                <c:pt idx="1">
                  <c:v>Markov</c:v>
                </c:pt>
                <c:pt idx="2">
                  <c:v>FAPN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0.133</c:v>
                </c:pt>
                <c:pt idx="1">
                  <c:v>0.711</c:v>
                </c:pt>
                <c:pt idx="2">
                  <c:v>0.951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Top-3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Frequency</c:v>
                </c:pt>
                <c:pt idx="1">
                  <c:v>Markov</c:v>
                </c:pt>
                <c:pt idx="2">
                  <c:v>FAPN (ours)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0.472</c:v>
                </c:pt>
                <c:pt idx="1">
                  <c:v>0.94</c:v>
                </c:pt>
                <c:pt idx="2">
                  <c:v>1.0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242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8B8"/>
            </a:solidFill>
          </a:ln>
        </c:spPr>
        <c:txPr>
          <a:bodyPr/>
          <a:lstStyle/>
          <a:p>
            <a:pPr>
              <a:defRPr sz="11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E3E7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Rows per dataset: train vs holdout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Train (80%)</c:v>
                </c:pt>
              </c:strCache>
            </c:strRef>
          </c:tx>
          <c:spPr>
            <a:solidFill>
              <a:srgbClr val="1F3A5F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DS 10</c:v>
                </c:pt>
                <c:pt idx="1">
                  <c:v>DS 11</c:v>
                </c:pt>
                <c:pt idx="2">
                  <c:v>DS 12</c:v>
                </c:pt>
                <c:pt idx="3">
                  <c:v>DS 13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6160</c:v>
                </c:pt>
                <c:pt idx="1">
                  <c:v>4000</c:v>
                </c:pt>
                <c:pt idx="2">
                  <c:v>6465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 / eval</c:v>
                </c:pt>
              </c:strCache>
            </c:strRef>
          </c:tx>
          <c:spPr>
            <a:solidFill>
              <a:srgbClr val="8FA8C8"/>
            </a:solidFill>
          </c:spPr>
          <c:cat>
            <c:strRef>
              <c:f>Sheet1!$A$2:$A$5</c:f>
              <c:strCache>
                <c:ptCount val="4"/>
                <c:pt idx="0">
                  <c:v>DS 10</c:v>
                </c:pt>
                <c:pt idx="1">
                  <c:v>DS 11</c:v>
                </c:pt>
                <c:pt idx="2">
                  <c:v>DS 12</c:v>
                </c:pt>
                <c:pt idx="3">
                  <c:v>DS 13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1540</c:v>
                </c:pt>
                <c:pt idx="1">
                  <c:v>1000</c:v>
                </c:pt>
                <c:pt idx="2">
                  <c:v>1535</c:v>
                </c:pt>
                <c:pt idx="3">
                  <c:v>1890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242424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8B8"/>
            </a:solidFill>
          </a:ln>
        </c:spPr>
        <c:txPr>
          <a:bodyPr/>
          <a:lstStyle/>
          <a:p>
            <a:pPr>
              <a:defRPr sz="11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7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000" b="1" dirty="0">
                <a:solidFill>
                  <a:prstClr val="white"/>
                </a:solidFill>
                <a:cs typeface="Calibri" panose="020F0502020204030204" pitchFamily="34" charset="0"/>
              </a:rPr>
              <a:t>An Intelligent Framework for Prediction and Avoidance of Cyberattack with Digital Evidence Analysis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VARSHA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88720"/>
            <a:ext cx="10624338" cy="283464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IN" sz="1900" b="0" dirty="0">
                <a:solidFill>
                  <a:srgbClr val="242424"/>
                </a:solidFill>
                <a:latin typeface="+mn-lt"/>
              </a:rPr>
              <a:t>Modern cyberattacks are multi-stage campaigns: initial access → execution → credential theft → lateral movement → impact.</a:t>
            </a:r>
          </a:p>
          <a:p>
            <a:pPr>
              <a:spcBef>
                <a:spcPts val="800"/>
              </a:spcBef>
            </a:pPr>
            <a:r>
              <a:rPr lang="en-IN" sz="1900" b="0" dirty="0">
                <a:solidFill>
                  <a:srgbClr val="242424"/>
                </a:solidFill>
                <a:latin typeface="+mn-lt"/>
              </a:rPr>
              <a:t>IDS, SIEM, EDR and provenance-based systems such as KAIROS (IEEE S&amp;P 2024) detect and reconstruct an attack, but only after the system is compromised.</a:t>
            </a:r>
          </a:p>
          <a:p>
            <a:pPr>
              <a:spcBef>
                <a:spcPts val="800"/>
              </a:spcBef>
            </a:pPr>
            <a:r>
              <a:rPr lang="en-IN" sz="1900" b="0" dirty="0">
                <a:solidFill>
                  <a:srgbClr val="242424"/>
                </a:solidFill>
                <a:latin typeface="+mn-lt"/>
              </a:rPr>
              <a:t>Common responses (kill process, shut down, reimage) stop the attacker but destroy volatile evidence, and attackers also delete or fake logs.</a:t>
            </a:r>
          </a:p>
          <a:p>
            <a:pPr>
              <a:spcBef>
                <a:spcPts val="800"/>
              </a:spcBef>
            </a:pPr>
            <a:r>
              <a:rPr lang="en-IN" sz="1900" b="0" dirty="0">
                <a:solidFill>
                  <a:srgbClr val="242424"/>
                </a:solidFill>
                <a:latin typeface="+mn-lt"/>
              </a:rPr>
              <a:t>FAPT-Guard predicts the attacker’s next stage, checks how far the evidence can be trusted, and selects a response that stops the attack while preserving forensic evidence.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sp>
        <p:nvSpPr>
          <p:cNvPr id="7" name="Pentagon 6"/>
          <p:cNvSpPr/>
          <p:nvPr/>
        </p:nvSpPr>
        <p:spPr>
          <a:xfrm>
            <a:off x="502920" y="4160520"/>
            <a:ext cx="1828800" cy="566928"/>
          </a:xfrm>
          <a:prstGeom prst="homePlate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Reconnaissance</a:t>
            </a:r>
          </a:p>
        </p:txBody>
      </p:sp>
      <p:sp>
        <p:nvSpPr>
          <p:cNvPr id="8" name="Chevron 7"/>
          <p:cNvSpPr/>
          <p:nvPr/>
        </p:nvSpPr>
        <p:spPr>
          <a:xfrm>
            <a:off x="2286000" y="4160520"/>
            <a:ext cx="1828800" cy="566928"/>
          </a:xfrm>
          <a:prstGeom prst="chevron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Initial Access</a:t>
            </a:r>
          </a:p>
        </p:txBody>
      </p:sp>
      <p:sp>
        <p:nvSpPr>
          <p:cNvPr id="9" name="Chevron 8"/>
          <p:cNvSpPr/>
          <p:nvPr/>
        </p:nvSpPr>
        <p:spPr>
          <a:xfrm>
            <a:off x="4069080" y="4160520"/>
            <a:ext cx="1828800" cy="566928"/>
          </a:xfrm>
          <a:prstGeom prst="chevron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Execution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5852159" y="4160520"/>
            <a:ext cx="1828800" cy="566928"/>
          </a:xfrm>
          <a:prstGeom prst="chevron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Credential Access</a:t>
            </a:r>
          </a:p>
        </p:txBody>
      </p:sp>
      <p:sp>
        <p:nvSpPr>
          <p:cNvPr id="11" name="Chevron 10"/>
          <p:cNvSpPr/>
          <p:nvPr/>
        </p:nvSpPr>
        <p:spPr>
          <a:xfrm>
            <a:off x="7635240" y="4160520"/>
            <a:ext cx="1828800" cy="566928"/>
          </a:xfrm>
          <a:prstGeom prst="chevron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Lateral Movement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9418320" y="4160520"/>
            <a:ext cx="1828800" cy="566928"/>
          </a:xfrm>
          <a:prstGeom prst="chevron">
            <a:avLst/>
          </a:prstGeom>
          <a:solidFill>
            <a:srgbClr val="EEF3F8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4846320"/>
            <a:ext cx="7040880" cy="64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95604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03A2E"/>
                </a:solidFill>
                <a:latin typeface="Calibri"/>
              </a:rPr>
              <a:t>Existing detectors (KAIROS, UNICORN): alert and investigate after compromise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5349240"/>
            <a:ext cx="8595360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39" y="545896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  <a:latin typeface="Calibri"/>
              </a:rPr>
              <a:t>FAPT-Guard: predict next stage → preserve evidence → prevent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440"/>
            <a:ext cx="10624338" cy="393192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Collect evidence: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system, Sysmon, process and authentication logs, network flows, memory and file artefacts.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Build temporal provenance graphs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and map every event to MITRE ATT&amp;CK tactics and techniques.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Predict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the next attack stage, the next ATT&amp;CK technique and the attacker’s final intent, with a confidence score.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Evaluate evidence trust (DETS)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and detect tampering: deleted, modified, fake or reordered events.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Measure evidence value and preservation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using CDFU, ERS, ELC and the graph integrity score EGIS.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Select containment actions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that stop the attack, preserve evidence and minimise business impact (U-EPPC).</a:t>
            </a:r>
          </a:p>
          <a:p>
            <a:pPr>
              <a:spcBef>
                <a:spcPts val="1000"/>
              </a:spcBef>
            </a:pPr>
            <a:r>
              <a:rPr lang="en-IN" sz="2000" b="1" dirty="0">
                <a:solidFill>
                  <a:srgbClr val="1F3A5F"/>
                </a:solidFill>
                <a:latin typeface="+mn-lt"/>
              </a:rPr>
              <a:t>Generate explainable forensic reports </a:t>
            </a:r>
            <a:r>
              <a:rPr lang="en-IN" sz="2000" b="0" dirty="0">
                <a:solidFill>
                  <a:srgbClr val="242424"/>
                </a:solidFill>
                <a:latin typeface="+mn-lt"/>
              </a:rPr>
              <a:t>with a hash-verified audit trail (chain of custody).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188720"/>
            <a:ext cx="5440680" cy="3977639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IN" sz="1900" b="1" dirty="0">
                <a:solidFill>
                  <a:srgbClr val="5583D1"/>
                </a:solidFill>
                <a:latin typeface="+mn-lt"/>
              </a:rPr>
              <a:t>Evidence → graph → ATT&amp;CK mapping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Inputs: authentication, process, Sysmon and network logs (loaders for DARPA CDM/eCAR and CIC-IDS2018).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Each event is parsed into subject → action → object with a timestamp.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Entities (user, host, process, file, IP) become nodes; actions become time-stamped edges.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Rules map events to ATT&amp;CK v19.2, e.g. PowerShell → T1059.001, LSASS access → T1003.001.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Output: temporal provenance graph – demo incident INC-00001 has 8 entities and 6 edges.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Evidence Collection &amp; Provenance Graph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pic>
        <p:nvPicPr>
          <p:cNvPr id="19" name="Picture 18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035040" cy="3175962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97880" y="459328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Provenance graph of demo incident INC-00001 (FAPT-Guard UI)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188720"/>
            <a:ext cx="5440680" cy="3977639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IN" sz="1900" b="1" dirty="0">
                <a:solidFill>
                  <a:srgbClr val="5583D1"/>
                </a:solidFill>
                <a:latin typeface="+mn-lt"/>
              </a:rPr>
              <a:t>FAPN next stage + AFIP anti-forensic intent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FAPN: GRU sequence model over ATT&amp;CK technique sequences, with two heads for next tactic and next technique.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Shown in the UI as the Attack Future Cone: T1021.002 61%, T1087 23%, T1053 16%; uncertainty 21%.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AFIP predicts anti-forensic moves (disable Sysmon, delete PowerShell history, fake events) and links each to a preservation step.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FAPN top-1 accuracy 0.951 vs Markov 0.711 vs frequency 0.133 (leave-one-campaign-out, 3 seeds).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Attack Prediction &amp; Anti-Forensic Intent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806440" y="1234440"/>
          <a:ext cx="37947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20" name="Picture 19" descr="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25880"/>
            <a:ext cx="2407069" cy="2606040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692640" y="397763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UI: Attack Future Cone</a:t>
            </a:r>
          </a:p>
        </p:txBody>
      </p:sp>
    </p:spTree>
    <p:extLst>
      <p:ext uri="{BB962C8B-B14F-4D97-AF65-F5344CB8AC3E}">
        <p14:creationId xmlns:p14="http://schemas.microsoft.com/office/powerpoint/2010/main" val="239085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188720"/>
            <a:ext cx="5440680" cy="3977639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IN" sz="1900" b="1" dirty="0">
                <a:solidFill>
                  <a:srgbClr val="5583D1"/>
                </a:solidFill>
                <a:latin typeface="+mn-lt"/>
              </a:rPr>
              <a:t>DETS trust score, volatility, EGIS, SHA-256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DETS = source × temporal × structural × anomaly; one strong red flag pulls trust down.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Volatility sets collection order: LSASS access 92%, network 88%, login 20%.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Preserve snapshot hashes all fields with SHA-256; Verify integrity re-hashes (“Match”).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EGIS combines completeness, consistency and authenticity of the whole graph.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Clean detection F1 0.889, AUC 0.939, EGIS 0.961. Tamper-detection F1: fake events 0.79, attribute modification 0.71, timeline manipulation 0.61.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Evidence Trust &amp; Integrity Analysis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pic>
        <p:nvPicPr>
          <p:cNvPr id="19" name="Picture 18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035040" cy="3044224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97880" y="4461543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Evidence inventory with volatility and hash verification</a:t>
            </a:r>
          </a:p>
        </p:txBody>
      </p:sp>
    </p:spTree>
    <p:extLst>
      <p:ext uri="{BB962C8B-B14F-4D97-AF65-F5344CB8AC3E}">
        <p14:creationId xmlns:p14="http://schemas.microsoft.com/office/powerpoint/2010/main" val="164789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188720"/>
            <a:ext cx="5440680" cy="3977639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IN" sz="1900" b="1" dirty="0">
                <a:solidFill>
                  <a:srgbClr val="5583D1"/>
                </a:solidFill>
                <a:latin typeface="+mn-lt"/>
              </a:rPr>
              <a:t>JCFE counterfactual comparison + U-EPPC optimiser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JCFE scores 11 candidate actions before any is executed.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Each action: residual risk, Evidence Retention Score (ERS), Evidence Loss Cost (ELC), business impact.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U-EPPC picks the lowest objective: NETWORK_ISOLATE (risk 0.152, ERS 0.912); REIMAGE_HOST ranks last (ELC 4.907).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Trust gate (τ = 0.5) blocks destructive actions on low-trust evidence: 32.7% → 0%.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Evidence-Preserving Prevention Decision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pic>
        <p:nvPicPr>
          <p:cNvPr id="19" name="Picture 18" descr="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035040" cy="3329063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97880" y="4746383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Response comparison of 11 actions for INC-00001</a:t>
            </a:r>
          </a:p>
        </p:txBody>
      </p:sp>
    </p:spTree>
    <p:extLst>
      <p:ext uri="{BB962C8B-B14F-4D97-AF65-F5344CB8AC3E}">
        <p14:creationId xmlns:p14="http://schemas.microsoft.com/office/powerpoint/2010/main" val="269575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188720"/>
            <a:ext cx="5440680" cy="3977639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IN" sz="1900" b="1" dirty="0">
                <a:solidFill>
                  <a:srgbClr val="5583D1"/>
                </a:solidFill>
                <a:latin typeface="+mn-lt"/>
              </a:rPr>
              <a:t>Web dashboard + evaluation suite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7 pages: Dataset research, Command Center, Incidents, Attack Graph, Evidence, Prevention, Reports.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Workflow: investigate → trace graph → preserve &amp; verify → compare responses → export report.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Audit trail logs every ASSESSMENT, SIMULATION and PRESERVATION with SHA-256 (chain of custody).</a:t>
            </a:r>
          </a:p>
          <a:p>
            <a:pPr>
              <a:spcBef>
                <a:spcPts val="800"/>
              </a:spcBef>
            </a:pPr>
            <a:r>
              <a:rPr lang="en-IN" sz="1700" b="0" dirty="0">
                <a:solidFill>
                  <a:srgbClr val="242424"/>
                </a:solidFill>
                <a:latin typeface="+mn-lt"/>
              </a:rPr>
              <a:t>Evaluation: 7 experiments (E1–E7) over 3 seeds; holdout on FAPT datasets 10–12; dataset 13 (FAPT-Bench) kept for robustness.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Dashboard, Forensic Report &amp; Evaluation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pic>
        <p:nvPicPr>
          <p:cNvPr id="19" name="Picture 18" descr="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035040" cy="2778846"/>
          </a:xfrm>
          <a:prstGeom prst="rect">
            <a:avLst/>
          </a:prstGeom>
          <a:ln w="9525">
            <a:solidFill>
              <a:srgbClr val="9AA8B8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97880" y="419616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Command Center: future cone, attack map, evidence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95742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3520440" cy="603504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1  Data collection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FAPT datasets 10–13, demo incident, ATT&amp;CK v19.2, OpTC loader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5688" y="1819656"/>
            <a:ext cx="0" cy="914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" y="1911095"/>
            <a:ext cx="3520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2  Preprocessing &amp; graph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parse, clean, map to ATT&amp;CK, build provenance graph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75688" y="2514600"/>
            <a:ext cx="0" cy="914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" y="2606040"/>
            <a:ext cx="3520440" cy="603504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3  Prediction models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FAPN next stage, AFIP intent, anomaly detector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5688" y="3209544"/>
            <a:ext cx="0" cy="914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0040" y="3300984"/>
            <a:ext cx="3520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4  Evidence modelling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DETS trust, volatility, EGIS, SHA-256 snapshots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3904488"/>
            <a:ext cx="0" cy="914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" y="3995928"/>
            <a:ext cx="3520440" cy="603504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5  Decision optimisation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JCFE what-if scoring, U-EPPC + trust 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75688" y="4599432"/>
            <a:ext cx="0" cy="914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0040" y="4690872"/>
            <a:ext cx="35204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6  Evaluation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holdout + 3 seeds, FAPT-Bench robustness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069080" y="1261872"/>
          <a:ext cx="7726678" cy="3438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9386"/>
                <a:gridCol w="3147906"/>
                <a:gridCol w="2289386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 / method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Next-stage prediction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FAPN (GRU) vs Markov, frequency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Top-1 / Top-3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Anti-forensic intent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AFIP classifier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Accuracy, macro-F1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Pre-intrusion blocking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Histogram Gradient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Block rate, false-block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Provenance anomaly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Isolation Forest + ATT&amp;CK hits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F1, AUC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Evidence trust / tamper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DETS product score + EGIS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Tamper-detection F1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Exploit probability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Beta-Bernoulli update of CVSS/EPSS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MAE, Brier score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Response selection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U-EPPC weighted objective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Residual risk, ERS, ELC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069080" y="4754880"/>
            <a:ext cx="772667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Decision objective:  a* = argmin [ Risk + λ1·ELC + λ2·Business impact + λ3·Uncertainty ]</a:t>
            </a:r>
          </a:p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Destructive actions allowed only when evidence trust ≥ τ (0.5)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6172198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8873"/>
                <a:gridCol w="942320"/>
                <a:gridCol w="989436"/>
                <a:gridCol w="226156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10 – Cyber-Forensic Response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7,700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CDFU, ACES, ERS, ELC, JCFE, U-EPPC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11 – Anti-Forensic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AFIP, predictive preservation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12 – Evidence Trust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DETP, P3R, EGIS, FAPN robustness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13 – FAPT-Bench 2.0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1,890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evaluation only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final robustness test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MITRE ATT&amp;CK v19.2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technique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DARPA OpTC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0 (not imported)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real-data evaluation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720840" y="1188720"/>
          <a:ext cx="512064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86000" y="4069080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583D1"/>
                </a:solidFill>
                <a:latin typeface="Calibri"/>
              </a:rPr>
              <a:t>Preprocessing steps and EDA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Parse: </a:t>
            </a:r>
            <a:r>
              <a:rPr sz="1400" b="0">
                <a:solidFill>
                  <a:srgbClr val="242424"/>
                </a:solidFill>
                <a:latin typeface="Calibri"/>
              </a:rPr>
              <a:t>raw events → subject–action–object with timestamps; drop malformed rows, fill missing fields.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Map &amp; normalise: </a:t>
            </a:r>
            <a:r>
              <a:rPr sz="1400" b="0">
                <a:solidFill>
                  <a:srgbClr val="242424"/>
                </a:solidFill>
                <a:latin typeface="Calibri"/>
              </a:rPr>
              <a:t>ATT&amp;CK technique per event; scores scaled to 0–1; event counts log-scaled per host window.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Split: </a:t>
            </a:r>
            <a:r>
              <a:rPr sz="1400" b="0">
                <a:solidFill>
                  <a:srgbClr val="242424"/>
                </a:solidFill>
                <a:latin typeface="Calibri"/>
              </a:rPr>
              <a:t>80/20 train/holdout per development dataset; dataset 13 never seen in training.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Finding 1: </a:t>
            </a:r>
            <a:r>
              <a:rPr sz="1400" b="0">
                <a:solidFill>
                  <a:srgbClr val="242424"/>
                </a:solidFill>
                <a:latin typeface="Calibri"/>
              </a:rPr>
              <a:t>AFIP labels are imbalanced – 61.3% accuracy but macro-F1 0.088 → class weighting needed.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Finding 2: </a:t>
            </a:r>
            <a:r>
              <a:rPr sz="1400" b="0">
                <a:solidFill>
                  <a:srgbClr val="242424"/>
                </a:solidFill>
                <a:latin typeface="Calibri"/>
              </a:rPr>
              <a:t>poisoning inputs contain corruption indicators (label leakage → 100%) – being removed.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07008"/>
          <a:ext cx="11521439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5824024"/>
                <a:gridCol w="240557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Algorithm / approach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Evidence parsing &amp; provenance 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Subject–action–object parsing; temporal graph construction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Python, pandas, NetworkX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ATT&amp;CK mapping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Rule-based technique matching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MITRE ATT&amp;CK v19.2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Next-stage prediction (FAPN)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GRU sequence model trained with Adam; Markov and frequency baselines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Anti-forensic intent (AFIP)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Supervised multi-class classifier on FAPT dataset 11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Pre-intrusion blocking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Histogram Gradient Boosting flow classifier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Provenance anomaly detection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Isolation Forest fused with ATT&amp;CK-hit signal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Evidence trust &amp; 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DETS product score, EGIS, SHA-256 snapshots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Python, hashlib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Hardening &amp; exploit model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Attack graph + Monte Carlo attacker; Beta-Bernoulli learning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NetworkX, SciPy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Decision engine (JCFE, U-EPPC)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Counterfactual scoring + weighted multi-objective + trust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Visualisation &amp; reporting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Dashboard, charts, audit trail, report export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Web UI, Matplotlib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77440" y="53492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Planned for the real-data phase: PyTorch Geometric GNN encoder for FAPN, Sysmon / Wazuh evidence collection, DARPA OpTC import and direct comparison with KAIROS.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/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/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/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07008"/>
          <a:ext cx="8229598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885"/>
                <a:gridCol w="6270171"/>
                <a:gridCol w="156754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Literature survey, base paper (KAIROS) and research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Framework design and novelty definition (FAPT-Guard)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Synthetic data generators and FAPT datasets 10–13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Modules: provenance graph, FAPN, DETS / EGIS, decision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Experiments E1–E7 (3 seeds) and IEEE paper draft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FAPT-Guard dashboard prototype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D8EFD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DARPA OpTC import and real-data evaluation vs KAIROS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54864" marR="54864" marT="27432" marB="27432" anchor="ctr">
                    <a:solidFill>
                      <a:srgbClr val="FDEBC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Fix poisoning label leakage; improve AFIP (class weighting)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54864" marR="54864" marT="27432" marB="27432" anchor="ctr">
                    <a:solidFill>
                      <a:srgbClr val="FDEBC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GNN encoder, FAPT-Bench final benchmark, Review III and thesis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42424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54864" marR="54864" marT="27432" marB="27432" anchor="ctr"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15400" y="1207008"/>
            <a:ext cx="2880360" cy="1143000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1F3A5F"/>
                </a:solidFill>
                <a:latin typeface="Calibri"/>
              </a:rPr>
              <a:t>6 of 9</a:t>
            </a:r>
          </a:p>
          <a:p>
            <a:pPr algn="ctr"/>
            <a:r>
              <a:rPr sz="2400" b="0">
                <a:solidFill>
                  <a:srgbClr val="595959"/>
                </a:solidFill>
                <a:latin typeface="Calibri"/>
              </a:rPr>
              <a:t>milestones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2606040"/>
            <a:ext cx="2880360" cy="640080"/>
          </a:xfrm>
          <a:prstGeom prst="rect">
            <a:avLst/>
          </a:prstGeom>
          <a:solidFill>
            <a:srgbClr val="D8EFD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Review I</a:t>
            </a:r>
          </a:p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Completed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3383280"/>
            <a:ext cx="2880360" cy="640080"/>
          </a:xfrm>
          <a:prstGeom prst="rect">
            <a:avLst/>
          </a:prstGeom>
          <a:solidFill>
            <a:srgbClr val="FDEBC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Review II</a:t>
            </a:r>
          </a:p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4160520"/>
            <a:ext cx="2880360" cy="640080"/>
          </a:xfrm>
          <a:prstGeom prst="rect">
            <a:avLst/>
          </a:prstGeom>
          <a:solidFill>
            <a:srgbClr val="ECEEF1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Review III</a:t>
            </a:r>
          </a:p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FAPT-Guard: Cyberattack Prediction &amp; Avoidance</a:t>
            </a:r>
          </a:p>
          <a:p>
            <a:pPr algn="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Digital evidence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logs, Sysmon, network,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memory, files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198881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61488" y="141732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Acquisition &amp;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preprocessing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parse, clean, timestamp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73168" y="198881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11496" y="1417320"/>
            <a:ext cx="2011680" cy="1143000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Temporal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provenance graph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entities + time-stamped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edges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23176" y="198881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461504" y="141732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ATT&amp;CK mapping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technique per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73184" y="1988819"/>
            <a:ext cx="338327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811512" y="1417320"/>
            <a:ext cx="2011680" cy="1143000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FAPN prediction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next stage, technique,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intent +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11512" y="3520440"/>
            <a:ext cx="2011680" cy="1143000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Evidence trust (DETS)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&amp; tamper detection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AFIP anti-forensic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intent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473184" y="409193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61504" y="352044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Graph integrity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(EGIS)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completeness,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consistency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123176" y="409193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11496" y="352044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Counterfactual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simulator (JCFE)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what-if for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11 actions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773168" y="409193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761488" y="3520440"/>
            <a:ext cx="2011680" cy="1143000"/>
          </a:xfrm>
          <a:prstGeom prst="rect">
            <a:avLst/>
          </a:prstGeom>
          <a:solidFill>
            <a:srgbClr val="EEF3F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Containment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decision (U-EPPC)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risk + ELC + impact,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trust gate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423160" y="4091939"/>
            <a:ext cx="338328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3520440"/>
            <a:ext cx="201168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Preserve evidence</a:t>
            </a:r>
          </a:p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→ act → report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SHA-256 snapshot,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audit trail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817352" y="2560320"/>
            <a:ext cx="0" cy="9601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2697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Stage A – understand &amp; 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00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Stage B – trust, decide, preserve, prevent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12064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42424"/>
                </a:solidFill>
                <a:latin typeface="Calibri"/>
              </a:rPr>
              <a:t>Outputs to the dashboard: current &amp; predicted stage, attacker intent, evidence trust, ERS / ELC, EGIS, recommended action, counterfactual risk and the forensic report.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