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98" r:id="rId2"/>
    <p:sldId id="2147470492" r:id="rId3"/>
    <p:sldId id="2147470500" r:id="rId4"/>
    <p:sldId id="2147470501" r:id="rId5"/>
    <p:sldId id="2147470495" r:id="rId6"/>
    <p:sldId id="2147470496" r:id="rId7"/>
    <p:sldId id="2147470507" r:id="rId8"/>
    <p:sldId id="2147470505" r:id="rId9"/>
    <p:sldId id="2147470489" r:id="rId10"/>
    <p:sldId id="2147470499" r:id="rId11"/>
    <p:sldId id="2147470493" r:id="rId12"/>
    <p:sldId id="2147470494" r:id="rId13"/>
    <p:sldId id="2147470502" r:id="rId14"/>
    <p:sldId id="2147470503" r:id="rId15"/>
    <p:sldId id="2147470506" r:id="rId16"/>
    <p:sldId id="2147470504" r:id="rId17"/>
    <p:sldId id="214747049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71" d="100"/>
          <a:sy n="71" d="100"/>
        </p:scale>
        <p:origin x="47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56B5A-85AC-79B5-859D-8610A6E24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5838CE9-AAB5-CEAA-95C1-D523AD8E0204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B3E2E2C-C3FD-F6ED-9E8F-141FEC0D29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7F56A1F-2D7F-4C81-A40B-D2911E2BCB2D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E53B65F-E682-AA96-B9D5-400415A50592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D105B8-EFD0-9D37-2D95-A9EE330752B1}"/>
              </a:ext>
            </a:extLst>
          </p:cNvPr>
          <p:cNvSpPr txBox="1"/>
          <p:nvPr/>
        </p:nvSpPr>
        <p:spPr>
          <a:xfrm>
            <a:off x="180236" y="1700163"/>
            <a:ext cx="11428184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lvl="0" algn="ctr"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Call Sense — Real-Time Voice 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AI Agent for Banking Support</a:t>
            </a: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KAUSHIK B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RAJALAKSHMI ENGINEERING COLLEGE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T9975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A0D8EA6-E6B4-DE5A-8878-B07AFB6E2443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B2A5F6D-2D75-2987-6EED-D99055AAD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F9766F-A6D5-6383-D67C-326F4ED53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59" b="29318"/>
          <a:stretch>
            <a:fillRect/>
          </a:stretch>
        </p:blipFill>
        <p:spPr>
          <a:xfrm>
            <a:off x="25856" y="5977383"/>
            <a:ext cx="1850270" cy="80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766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403706"/>
            <a:ext cx="11496293" cy="4050588"/>
          </a:xfrm>
        </p:spPr>
        <p:txBody>
          <a:bodyPr/>
          <a:lstStyle/>
          <a:p>
            <a:pPr lvl="0"/>
            <a:r>
              <a:rPr lang="en-IN" sz="2400" dirty="0"/>
              <a:t>Banking customer-support centres receive large volumes of calls for common queries such as account information, transaction status, card-related issues, loans, and banking services. </a:t>
            </a:r>
          </a:p>
          <a:p>
            <a:pPr lvl="0"/>
            <a:r>
              <a:rPr lang="en-IN" sz="2400" dirty="0"/>
              <a:t>Traditional IVR systems depend on fixed menu options and cannot effectively understand natural customer conversations. </a:t>
            </a:r>
          </a:p>
          <a:p>
            <a:pPr lvl="0"/>
            <a:r>
              <a:rPr lang="en-IN" sz="2400" dirty="0"/>
              <a:t>Human agents are required even for repetitive and simple banking queries, increasing waiting time and operational workload. </a:t>
            </a:r>
          </a:p>
          <a:p>
            <a:pPr lvl="0"/>
            <a:r>
              <a:rPr lang="en-IN" sz="2400" dirty="0"/>
              <a:t>Call Sense is a real-time Voice AI Agent designed to communicate naturally with banking customers.</a:t>
            </a:r>
          </a:p>
          <a:p>
            <a:pPr lvl="0"/>
            <a:r>
              <a:rPr lang="en-IN" sz="2400" dirty="0"/>
              <a:t>The system converts customer speech into text, understands the user's intent, retrieves or generates an appropriate response, and converts the response back into speech.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4679577" y="-7454"/>
            <a:ext cx="79292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1800" b="1" i="1" dirty="0">
                <a:solidFill>
                  <a:srgbClr val="FFFFFF"/>
                </a:solidFill>
              </a:rPr>
              <a:t>Project Title -  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Call Sense — Real-Time Voice AI Agent for Banking Support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92300-1313-F7FD-80D1-D739283AB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488B5E-8CDE-9E79-F60F-4A15CCF0F3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438937"/>
            <a:ext cx="10624338" cy="4142989"/>
          </a:xfrm>
        </p:spPr>
        <p:txBody>
          <a:bodyPr/>
          <a:lstStyle/>
          <a:p>
            <a:pPr marL="0" lvl="0" indent="0">
              <a:buNone/>
            </a:pPr>
            <a:r>
              <a:rPr lang="en-US" sz="2500" dirty="0"/>
              <a:t>The main objectives of Call Sense are:</a:t>
            </a:r>
          </a:p>
          <a:p>
            <a:pPr lvl="0"/>
            <a:r>
              <a:rPr lang="en-US" sz="2500" dirty="0"/>
              <a:t>Develop a real-time conversational Voice AI Agent for banking support. </a:t>
            </a:r>
          </a:p>
          <a:p>
            <a:pPr lvl="0"/>
            <a:r>
              <a:rPr lang="en-US" sz="2500" dirty="0"/>
              <a:t>Convert customer speech accurately into text using Speech-to-Text technology. </a:t>
            </a:r>
          </a:p>
          <a:p>
            <a:pPr lvl="0"/>
            <a:r>
              <a:rPr lang="en-GB" sz="2500" dirty="0"/>
              <a:t>Improve customer satisfaction through 24/7 support.</a:t>
            </a:r>
            <a:endParaRPr lang="en-US" sz="2500" dirty="0"/>
          </a:p>
          <a:p>
            <a:pPr lvl="0"/>
            <a:r>
              <a:rPr lang="en-US" sz="2500" dirty="0"/>
              <a:t>Identify the customer's banking intent from natural-language conversation. </a:t>
            </a:r>
          </a:p>
          <a:p>
            <a:pPr lvl="0"/>
            <a:r>
              <a:rPr lang="en-US" sz="2500" dirty="0"/>
              <a:t>Provide relevant responses for supported banking queries. </a:t>
            </a:r>
          </a:p>
          <a:p>
            <a:pPr lvl="0"/>
            <a:r>
              <a:rPr lang="en-US" sz="2500" dirty="0"/>
              <a:t>Generate natural voice responses using Text-to-Speech. </a:t>
            </a:r>
          </a:p>
          <a:p>
            <a:pPr lvl="0"/>
            <a:r>
              <a:rPr lang="en-US" sz="2500" dirty="0"/>
              <a:t>Detect queries that require additional verification or human intervention. </a:t>
            </a:r>
          </a:p>
          <a:p>
            <a:pPr lvl="0"/>
            <a:r>
              <a:rPr lang="en-US" sz="2500" dirty="0"/>
              <a:t>Maintain conversation logs for monitoring and performance evaluation.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12436-B566-E619-B950-7A0D09024B53}"/>
              </a:ext>
            </a:extLst>
          </p:cNvPr>
          <p:cNvSpPr txBox="1"/>
          <p:nvPr/>
        </p:nvSpPr>
        <p:spPr>
          <a:xfrm>
            <a:off x="255996" y="489098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C5A432-99F7-AF91-9E2A-6406A402827B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63BFF65-DBBD-BA35-65DB-88A52ACB5509}"/>
              </a:ext>
            </a:extLst>
          </p:cNvPr>
          <p:cNvSpPr txBox="1"/>
          <p:nvPr/>
        </p:nvSpPr>
        <p:spPr>
          <a:xfrm>
            <a:off x="4679577" y="-7454"/>
            <a:ext cx="79292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1800" b="1" i="1" dirty="0">
                <a:solidFill>
                  <a:srgbClr val="FFFFFF"/>
                </a:solidFill>
              </a:rPr>
              <a:t>Project Title -  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Call Sense — Real-Time Voice AI Agent for Banking Support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99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E861C-2B5D-FC37-84C4-4162A2630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67A66E-D9B0-77AA-9D56-7A8D2BDE95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439801"/>
            <a:ext cx="10624338" cy="4142989"/>
          </a:xfrm>
        </p:spPr>
        <p:txBody>
          <a:bodyPr/>
          <a:lstStyle/>
          <a:p>
            <a:r>
              <a:rPr lang="en-IN" sz="2200" dirty="0"/>
              <a:t>Natural-language understanding and banking intent identification. </a:t>
            </a:r>
          </a:p>
          <a:p>
            <a:pPr lvl="0"/>
            <a:r>
              <a:rPr lang="en-IN" sz="2200" dirty="0"/>
              <a:t>Handling common banking support queries. </a:t>
            </a:r>
          </a:p>
          <a:p>
            <a:pPr lvl="0"/>
            <a:r>
              <a:rPr lang="en-IN" sz="2200" dirty="0"/>
              <a:t>AI-based response generation. </a:t>
            </a:r>
          </a:p>
          <a:p>
            <a:pPr lvl="0"/>
            <a:r>
              <a:rPr lang="en-IN" sz="2200" dirty="0"/>
              <a:t>Banking knowledge retrieval using predefined knowledge or RAG. </a:t>
            </a:r>
          </a:p>
          <a:p>
            <a:pPr lvl="0"/>
            <a:r>
              <a:rPr lang="en-IN" sz="2200" dirty="0"/>
              <a:t>Conversation context handling during a call. </a:t>
            </a:r>
          </a:p>
          <a:p>
            <a:pPr lvl="0"/>
            <a:r>
              <a:rPr lang="en-IN" sz="2200" dirty="0"/>
              <a:t>Safety rules for sensitive banking operations. </a:t>
            </a:r>
          </a:p>
          <a:p>
            <a:pPr lvl="0"/>
            <a:r>
              <a:rPr lang="en-IN" sz="2200" dirty="0"/>
              <a:t>Dashboard for viewing call history, detected intent, responses, and escalation status.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AC2EA5-3011-B57D-CE60-45BB106905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B48B3F7-D16E-A94A-53DF-E62E50659CF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7D5C025-A1B4-6DE8-0A09-B0E3DE20B0E5}"/>
              </a:ext>
            </a:extLst>
          </p:cNvPr>
          <p:cNvSpPr txBox="1"/>
          <p:nvPr/>
        </p:nvSpPr>
        <p:spPr>
          <a:xfrm>
            <a:off x="4679577" y="-7454"/>
            <a:ext cx="79292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1800" b="1" i="1" dirty="0">
                <a:solidFill>
                  <a:srgbClr val="FFFFFF"/>
                </a:solidFill>
              </a:rPr>
              <a:t>Project Title -  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Call Sense — Real-Time Voice AI Agent for Banking Support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04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2BC7707-B7BF-E07B-7FBB-0B6EDBBFBF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932216"/>
              </p:ext>
            </p:extLst>
          </p:nvPr>
        </p:nvGraphicFramePr>
        <p:xfrm>
          <a:off x="448056" y="1234637"/>
          <a:ext cx="11338560" cy="5029200"/>
        </p:xfrm>
        <a:graphic>
          <a:graphicData uri="http://schemas.openxmlformats.org/drawingml/2006/table">
            <a:tbl>
              <a:tblPr firstRow="1">
                <a:tableStyleId>{BC89EF96-8CEA-46FF-86C4-4CE0E7609802}</a:tableStyleId>
              </a:tblPr>
              <a:tblGrid>
                <a:gridCol w="1610008">
                  <a:extLst>
                    <a:ext uri="{9D8B030D-6E8A-4147-A177-3AD203B41FA5}">
                      <a16:colId xmlns:a16="http://schemas.microsoft.com/office/drawing/2014/main" val="2175413709"/>
                    </a:ext>
                  </a:extLst>
                </a:gridCol>
                <a:gridCol w="3229432">
                  <a:extLst>
                    <a:ext uri="{9D8B030D-6E8A-4147-A177-3AD203B41FA5}">
                      <a16:colId xmlns:a16="http://schemas.microsoft.com/office/drawing/2014/main" val="133118053"/>
                    </a:ext>
                  </a:extLst>
                </a:gridCol>
                <a:gridCol w="3433417">
                  <a:extLst>
                    <a:ext uri="{9D8B030D-6E8A-4147-A177-3AD203B41FA5}">
                      <a16:colId xmlns:a16="http://schemas.microsoft.com/office/drawing/2014/main" val="3425178481"/>
                    </a:ext>
                  </a:extLst>
                </a:gridCol>
                <a:gridCol w="3065703">
                  <a:extLst>
                    <a:ext uri="{9D8B030D-6E8A-4147-A177-3AD203B41FA5}">
                      <a16:colId xmlns:a16="http://schemas.microsoft.com/office/drawing/2014/main" val="37850805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Author(s)</a:t>
                      </a:r>
                      <a:endParaRPr lang="en-IN" sz="1400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Paper </a:t>
                      </a:r>
                      <a:endParaRPr lang="en-IN" sz="1400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What it does</a:t>
                      </a:r>
                      <a:endParaRPr lang="en-IN" sz="1400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Limitation for Call Sense</a:t>
                      </a:r>
                      <a:endParaRPr lang="en-IN" sz="1400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107630"/>
                  </a:ext>
                </a:extLst>
              </a:tr>
              <a:tr h="322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Casanueva et al. (2020)</a:t>
                      </a:r>
                      <a:endParaRPr lang="en-IN" sz="140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Efficient Intent Detection with Dual Sentence Encoders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Introduces the </a:t>
                      </a:r>
                      <a:r>
                        <a:rPr lang="en-IN" sz="1400" b="1" dirty="0"/>
                        <a:t>BANKING77</a:t>
                      </a:r>
                      <a:r>
                        <a:rPr lang="en-IN" sz="1400" dirty="0"/>
                        <a:t> dataset with 77 fine-grained banking customer-service intents for intent classification. 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Focuses on </a:t>
                      </a:r>
                      <a:r>
                        <a:rPr lang="en-IN" sz="1400" b="1" dirty="0"/>
                        <a:t>text-based intent detection</a:t>
                      </a:r>
                      <a:r>
                        <a:rPr lang="en-IN" sz="1400" dirty="0"/>
                        <a:t>; does not provide real-time voice conversation, response generation, or human-agent escalation.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047318"/>
                  </a:ext>
                </a:extLst>
              </a:tr>
              <a:tr h="799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Zhang et al. (2023)</a:t>
                      </a:r>
                      <a:endParaRPr lang="en-IN" sz="140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SpeechGPT: Empowering Large Language Models with Intrinsic Cross-Modal Conversational Abilities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Enables LLM-based understanding and generation of speech for cross-modal conversational interaction. 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General-purpose speech model; does not provide </a:t>
                      </a:r>
                      <a:r>
                        <a:rPr lang="en-IN" sz="1400" b="1"/>
                        <a:t>banking-specific knowledge, safety controls, or escalation decisions</a:t>
                      </a:r>
                      <a:r>
                        <a:rPr lang="en-IN" sz="1400"/>
                        <a:t>.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25129"/>
                  </a:ext>
                </a:extLst>
              </a:tr>
              <a:tr h="799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Huang et al. (2024)</a:t>
                      </a:r>
                      <a:endParaRPr lang="en-IN" sz="140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AudioGPT: Understanding and Generating Speech, Music, Sound, and Talking Head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Integrates LLMs with speech/audio foundation models and ASR/TTS for multi-round spoken interaction. 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Focuses on general audio tasks; does not address </a:t>
                      </a:r>
                      <a:r>
                        <a:rPr lang="en-IN" sz="1400" b="1"/>
                        <a:t>banking intent routing, trusted banking responses, or sensitive-query handling</a:t>
                      </a:r>
                      <a:r>
                        <a:rPr lang="en-IN" sz="1400"/>
                        <a:t>.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636224"/>
                  </a:ext>
                </a:extLst>
              </a:tr>
              <a:tr h="615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Wang et al. (2024)</a:t>
                      </a:r>
                      <a:endParaRPr lang="en-IN" sz="140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 Full-duplex Speech Dialogue Scheme Based On Large Language Models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Develops a low-latency full-duplex dialogue system that can listen, respond, wait, and handle interruptions during conversation. 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Mainly improves </a:t>
                      </a:r>
                      <a:r>
                        <a:rPr lang="en-IN" sz="1400" b="1"/>
                        <a:t>real-time conversational interaction</a:t>
                      </a:r>
                      <a:r>
                        <a:rPr lang="en-IN" sz="1400"/>
                        <a:t>; does not include banking-domain grounding, risk checks, or human handoff.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08193"/>
                  </a:ext>
                </a:extLst>
              </a:tr>
              <a:tr h="799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Défossez et al. (2024)</a:t>
                      </a:r>
                      <a:endParaRPr lang="en-IN" sz="140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Moshi: a speech-text foundation model for real-time dialogue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Provides real-time full-duplex speech-to-speech conversation with very low response latency. 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General conversational model; lacks </a:t>
                      </a:r>
                      <a:r>
                        <a:rPr lang="en-IN" sz="1400" b="1" dirty="0"/>
                        <a:t>banking-specific intent classification, verified knowledge retrieval, and safety-based escalation</a:t>
                      </a:r>
                      <a:r>
                        <a:rPr lang="en-IN" sz="1400" dirty="0"/>
                        <a:t>.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78927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CBE12A3-5E96-381D-B63A-59A6E50D801C}"/>
              </a:ext>
            </a:extLst>
          </p:cNvPr>
          <p:cNvSpPr txBox="1"/>
          <p:nvPr/>
        </p:nvSpPr>
        <p:spPr>
          <a:xfrm>
            <a:off x="4679577" y="-7454"/>
            <a:ext cx="79292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1800" b="1" i="1" dirty="0">
                <a:solidFill>
                  <a:srgbClr val="FFFFFF"/>
                </a:solidFill>
              </a:rPr>
              <a:t>Project Title -  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Call Sense — Real-Time Voice AI Agent for Banking Support</a:t>
            </a:r>
          </a:p>
          <a:p>
            <a:pPr algn="r"/>
            <a:endParaRPr lang="en-US" sz="1800" b="1" i="1" dirty="0">
              <a:solidFill>
                <a:srgbClr val="FFFFFF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0003" y="1353509"/>
            <a:ext cx="11667780" cy="5312467"/>
          </a:xfrm>
        </p:spPr>
        <p:txBody>
          <a:bodyPr/>
          <a:lstStyle/>
          <a:p>
            <a:pPr lvl="0"/>
            <a:r>
              <a:rPr lang="en-IN" sz="2300" dirty="0"/>
              <a:t>Existing banking AI research mainly focuses on intent detection and text-based customer support. </a:t>
            </a:r>
          </a:p>
          <a:p>
            <a:pPr lvl="0"/>
            <a:r>
              <a:rPr lang="en-IN" sz="2300" dirty="0"/>
              <a:t>Recent speech-based AI systems enable real-time voice interaction and natural conversation. </a:t>
            </a:r>
          </a:p>
          <a:p>
            <a:pPr lvl="0"/>
            <a:r>
              <a:rPr lang="en-IN" sz="2300" dirty="0"/>
              <a:t>Modern speech-language models improve low-latency speech understanding and response generation. </a:t>
            </a:r>
          </a:p>
          <a:p>
            <a:pPr lvl="0"/>
            <a:r>
              <a:rPr lang="en-IN" sz="2300" dirty="0"/>
              <a:t>Most existing voice AI systems are general-purpose and are not specifically designed for banking support. </a:t>
            </a:r>
          </a:p>
          <a:p>
            <a:pPr lvl="0"/>
            <a:r>
              <a:rPr lang="en-IN" sz="2300" dirty="0"/>
              <a:t>Banking-specific requirements such as trusted knowledge retrieval, sensitive-query handling, safety checks, and human-agent escalation are not fully integrated in existing systems. </a:t>
            </a:r>
          </a:p>
          <a:p>
            <a:pPr lvl="0"/>
            <a:r>
              <a:rPr lang="en-IN" sz="2300" dirty="0"/>
              <a:t>Therefore, there is a need for a unified banking support framework that combines real-time voice AI, banking intent understanding, grounded responses, safety validation, and intelligent escalation. </a:t>
            </a:r>
          </a:p>
          <a:p>
            <a:pPr marL="0" lvl="0" indent="0">
              <a:lnSpc>
                <a:spcPct val="100000"/>
              </a:lnSpc>
              <a:buNone/>
            </a:pPr>
            <a:endParaRPr lang="en-IN" sz="2300" dirty="0">
              <a:latin typeface="+mn-lt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3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A6A8C-CBCF-5C5B-BF13-0FBB1C0D6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3EA7D2-45EC-8C1C-F26A-C7BB8B5230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0003" y="1353509"/>
            <a:ext cx="11667780" cy="5312467"/>
          </a:xfrm>
        </p:spPr>
        <p:txBody>
          <a:bodyPr/>
          <a:lstStyle/>
          <a:p>
            <a:pPr lvl="0"/>
            <a:r>
              <a:rPr lang="en-IN" sz="2400" dirty="0"/>
              <a:t>Python — main development language </a:t>
            </a:r>
          </a:p>
          <a:p>
            <a:pPr lvl="0"/>
            <a:r>
              <a:rPr lang="en-IN" sz="2400" dirty="0"/>
              <a:t>Whisper / faster-whisper — Speech-to-Text </a:t>
            </a:r>
          </a:p>
          <a:p>
            <a:pPr lvl="0"/>
            <a:r>
              <a:rPr lang="en-IN" sz="2400" dirty="0"/>
              <a:t>BERT / </a:t>
            </a:r>
            <a:r>
              <a:rPr lang="en-IN" sz="2400" dirty="0" err="1"/>
              <a:t>DistilBERT</a:t>
            </a:r>
            <a:r>
              <a:rPr lang="en-IN" sz="2400" dirty="0"/>
              <a:t> + BANKING77 — banking intent classification </a:t>
            </a:r>
          </a:p>
          <a:p>
            <a:pPr lvl="0"/>
            <a:r>
              <a:rPr lang="en-IN" sz="2400" dirty="0"/>
              <a:t>Sentence Transformers + </a:t>
            </a:r>
            <a:r>
              <a:rPr lang="en-IN" sz="2400" dirty="0" err="1"/>
              <a:t>ChromaDB</a:t>
            </a:r>
            <a:r>
              <a:rPr lang="en-IN" sz="2400" dirty="0"/>
              <a:t> — RAG / banking knowledge retrieval </a:t>
            </a:r>
          </a:p>
          <a:p>
            <a:pPr lvl="0"/>
            <a:r>
              <a:rPr lang="en-IN" sz="2400" dirty="0"/>
              <a:t>LLM — response generation </a:t>
            </a:r>
          </a:p>
          <a:p>
            <a:pPr lvl="0"/>
            <a:r>
              <a:rPr lang="en-IN" sz="2400" dirty="0" err="1"/>
              <a:t>FastAPI</a:t>
            </a:r>
            <a:r>
              <a:rPr lang="en-IN" sz="2400" dirty="0"/>
              <a:t> — backend integration </a:t>
            </a:r>
          </a:p>
          <a:p>
            <a:pPr lvl="0"/>
            <a:r>
              <a:rPr lang="en-IN" sz="2400" dirty="0"/>
              <a:t>SQLite — dummy banking data and call logs </a:t>
            </a:r>
          </a:p>
          <a:p>
            <a:pPr lvl="0"/>
            <a:r>
              <a:rPr lang="en-IN" sz="2400" dirty="0" err="1"/>
              <a:t>Streamlit</a:t>
            </a:r>
            <a:r>
              <a:rPr lang="en-IN" sz="2400" dirty="0"/>
              <a:t> — dashboard </a:t>
            </a:r>
          </a:p>
          <a:p>
            <a:pPr lvl="0"/>
            <a:r>
              <a:rPr lang="en-IN" sz="2400" dirty="0"/>
              <a:t>Text-to-Speech engine — voice response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B98C5E-E21C-C00B-5241-E1C017DD8BF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Technical Stack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94236DD-2ACE-7CFA-C2D7-D6044E65665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430787D-57FD-97B1-2B56-D30EEDC182A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57F22-D1C0-2DBC-5FB6-56571F74B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1D2CF1-5832-DF5F-C45D-29CF3BCCD7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34637"/>
            <a:ext cx="11759220" cy="5465076"/>
          </a:xfrm>
        </p:spPr>
        <p:txBody>
          <a:bodyPr/>
          <a:lstStyle/>
          <a:p>
            <a:r>
              <a:rPr lang="en-IN" sz="2100" dirty="0">
                <a:solidFill>
                  <a:schemeClr val="tx1"/>
                </a:solidFill>
              </a:rPr>
              <a:t>Module 1 – Voice Input &amp; Speech Preprocessing</a:t>
            </a:r>
            <a:br>
              <a:rPr lang="en-IN" sz="2100" dirty="0"/>
            </a:br>
            <a:r>
              <a:rPr lang="en-IN" sz="2100" dirty="0"/>
              <a:t>Captures customer voice, converts speech into text, and preprocesses the transcript for further analysis.</a:t>
            </a:r>
          </a:p>
          <a:p>
            <a:r>
              <a:rPr lang="en-IN" sz="2100" dirty="0">
                <a:solidFill>
                  <a:schemeClr val="tx1"/>
                </a:solidFill>
              </a:rPr>
              <a:t>Module 2 – Banking Intent &amp; Context Understanding</a:t>
            </a:r>
            <a:br>
              <a:rPr lang="en-IN" sz="2100" dirty="0">
                <a:solidFill>
                  <a:schemeClr val="tx1"/>
                </a:solidFill>
              </a:rPr>
            </a:br>
            <a:r>
              <a:rPr lang="en-IN" sz="2100" dirty="0"/>
              <a:t>Identifies the customer’s banking intent, such as transaction queries, card issues, account services, or loan enquiries, and maintains conversational context.</a:t>
            </a:r>
          </a:p>
          <a:p>
            <a:r>
              <a:rPr lang="en-IN" sz="2100" dirty="0">
                <a:solidFill>
                  <a:schemeClr val="tx1"/>
                </a:solidFill>
              </a:rPr>
              <a:t>Module 3 – Banking Knowledge Retrieval &amp; AI Response</a:t>
            </a:r>
            <a:br>
              <a:rPr lang="en-IN" sz="2100" dirty="0"/>
            </a:br>
            <a:r>
              <a:rPr lang="en-IN" sz="2100" dirty="0"/>
              <a:t>Retrieves relevant information from the banking knowledge base and uses AI/LLM reasoning to generate a context-aware and grounded response.</a:t>
            </a:r>
          </a:p>
          <a:p>
            <a:r>
              <a:rPr lang="en-IN" sz="2100" dirty="0">
                <a:solidFill>
                  <a:schemeClr val="tx1"/>
                </a:solidFill>
              </a:rPr>
              <a:t>Module 4 – Safety, Confidence &amp; Escalation Decision</a:t>
            </a:r>
            <a:br>
              <a:rPr lang="en-IN" sz="2100" dirty="0">
                <a:solidFill>
                  <a:schemeClr val="tx1"/>
                </a:solidFill>
              </a:rPr>
            </a:br>
            <a:r>
              <a:rPr lang="en-IN" sz="2100" dirty="0"/>
              <a:t>Checks whether the query can be handled safely, evaluates response confidence and sensitivity, and decides whether to RESPOND or ESCALATE to a human agent.</a:t>
            </a:r>
          </a:p>
          <a:p>
            <a:r>
              <a:rPr lang="en-IN" sz="2100" dirty="0">
                <a:solidFill>
                  <a:schemeClr val="tx1"/>
                </a:solidFill>
              </a:rPr>
              <a:t>Module 5 – Voice Response, Call Summary &amp; Evaluation</a:t>
            </a:r>
            <a:br>
              <a:rPr lang="en-IN" sz="2100" dirty="0">
                <a:solidFill>
                  <a:schemeClr val="tx1"/>
                </a:solidFill>
              </a:rPr>
            </a:br>
            <a:r>
              <a:rPr lang="en-IN" sz="2100" dirty="0"/>
              <a:t>Converts the final response into speech, generates a structured call summary, stores interaction details, and evaluates intent accuracy, response quality, latency, and escalation performance.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10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51311E-8781-DBCC-50DF-64739374974A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D85616F-D9B8-D992-89C2-BB5356DA1323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C405A60-E929-E3AA-3F8A-C86C36FD4B1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178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lvl="0" algn="ctr"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An Intelligent Framework for Prediction and Prevention of Cyberattack </a:t>
            </a:r>
            <a:r>
              <a:rPr lang="en-US" sz="3600" b="1">
                <a:solidFill>
                  <a:prstClr val="white"/>
                </a:solidFill>
                <a:cs typeface="Calibri" panose="020F0502020204030204" pitchFamily="34" charset="0"/>
              </a:rPr>
              <a:t>with Digit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KAUSHIK B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RAJALAKSHMI ENGINEERING COLLEGE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T9975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A69065-7C45-68D9-C888-484362DA36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59" b="29318"/>
          <a:stretch>
            <a:fillRect/>
          </a:stretch>
        </p:blipFill>
        <p:spPr>
          <a:xfrm>
            <a:off x="25856" y="5977383"/>
            <a:ext cx="1850270" cy="80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FC304-A2E4-E4C9-9C94-D802699B8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7B1816B-7702-F028-F17A-1F54CFAE44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94385"/>
            <a:ext cx="11496293" cy="4050588"/>
          </a:xfrm>
        </p:spPr>
        <p:txBody>
          <a:bodyPr/>
          <a:lstStyle/>
          <a:p>
            <a:r>
              <a:rPr lang="en-IN" dirty="0"/>
              <a:t>Digital forensic investigations involve large volumes of evidence from computers, mobile devices, browsers, logs, networks, cloud platforms, and storage systems.</a:t>
            </a:r>
          </a:p>
          <a:p>
            <a:r>
              <a:rPr lang="en-IN" dirty="0"/>
              <a:t>Existing forensic tools mainly extract and display artifacts separately. Investigators still need to manually connect evidence, identify missing information, and decide whether the evidence is strong enough for a conclusion.</a:t>
            </a:r>
          </a:p>
          <a:p>
            <a:r>
              <a:rPr lang="en-IN" dirty="0"/>
              <a:t>My project supports investigators by analysing evidence, correlating artifacts, checking evidence sufficiency, and generating explainable forensic reports.</a:t>
            </a:r>
            <a:endParaRPr lang="en-US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FF349B-AF9A-E6F1-9F03-97BF3565ECF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C0CE8E-317E-546C-D5EE-1D9636CB014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99CEC1A-E6F8-10D4-9BED-E5FFB59F3404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362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94385"/>
            <a:ext cx="10624338" cy="4142989"/>
          </a:xfrm>
        </p:spPr>
        <p:txBody>
          <a:bodyPr/>
          <a:lstStyle/>
          <a:p>
            <a:pPr lvl="0"/>
            <a:r>
              <a:rPr lang="en-IN" dirty="0" err="1"/>
              <a:t>Analyze</a:t>
            </a:r>
            <a:r>
              <a:rPr lang="en-IN" dirty="0"/>
              <a:t> heterogeneous digital evidence. </a:t>
            </a:r>
          </a:p>
          <a:p>
            <a:pPr lvl="0"/>
            <a:r>
              <a:rPr lang="en-IN" dirty="0"/>
              <a:t>Extract important forensic artifacts. </a:t>
            </a:r>
          </a:p>
          <a:p>
            <a:pPr lvl="0"/>
            <a:r>
              <a:rPr lang="en-IN" dirty="0"/>
              <a:t>Correlate evidence across multiple sources. </a:t>
            </a:r>
          </a:p>
          <a:p>
            <a:pPr lvl="0"/>
            <a:r>
              <a:rPr lang="en-IN" dirty="0"/>
              <a:t>Generate investigation hypotheses. </a:t>
            </a:r>
          </a:p>
          <a:p>
            <a:pPr lvl="0"/>
            <a:r>
              <a:rPr lang="en-IN" dirty="0"/>
              <a:t>Check whether evidence is sufficient or conflicting. </a:t>
            </a:r>
          </a:p>
          <a:p>
            <a:pPr lvl="0"/>
            <a:r>
              <a:rPr lang="en-IN" dirty="0"/>
              <a:t>Identify missing evidence required for investigation. </a:t>
            </a:r>
          </a:p>
          <a:p>
            <a:pPr lvl="0"/>
            <a:r>
              <a:rPr lang="en-IN" dirty="0"/>
              <a:t>Recommend the next forensic analysis.</a:t>
            </a:r>
          </a:p>
          <a:p>
            <a:pPr lvl="0"/>
            <a:r>
              <a:rPr lang="en-IN" dirty="0"/>
              <a:t>Generate explainable evidence-grounded reports.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23255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Digital evidence preprocessing. </a:t>
            </a:r>
          </a:p>
          <a:p>
            <a:pPr lvl="0"/>
            <a:r>
              <a:rPr lang="en-IN" dirty="0"/>
              <a:t>Artifact extraction. </a:t>
            </a:r>
          </a:p>
          <a:p>
            <a:pPr lvl="0"/>
            <a:r>
              <a:rPr lang="en-IN" dirty="0"/>
              <a:t>Cross-evidence correlation. </a:t>
            </a:r>
          </a:p>
          <a:p>
            <a:pPr lvl="0"/>
            <a:r>
              <a:rPr lang="en-IN" dirty="0"/>
              <a:t>AI-assisted investigation reasoning. </a:t>
            </a:r>
          </a:p>
          <a:p>
            <a:pPr lvl="0"/>
            <a:r>
              <a:rPr lang="en-IN" dirty="0"/>
              <a:t>Evidence sufficiency assessment. </a:t>
            </a:r>
          </a:p>
          <a:p>
            <a:pPr lvl="0"/>
            <a:r>
              <a:rPr lang="en-IN" dirty="0"/>
              <a:t>Conflict detection. </a:t>
            </a:r>
          </a:p>
          <a:p>
            <a:pPr lvl="0"/>
            <a:r>
              <a:rPr lang="en-IN" dirty="0"/>
              <a:t>Explainable report generation.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21FB4-5845-551E-B190-7FF759993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C4C3F6-153B-3F1F-C30B-A140524BD7F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FEB3E48-8B58-8C5C-F41A-95620AC258E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F2AAB3-98FF-E52A-7D32-7D6E66610142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46EECAF-9B73-F6FD-7E89-B19B86B31B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704804"/>
              </p:ext>
            </p:extLst>
          </p:nvPr>
        </p:nvGraphicFramePr>
        <p:xfrm>
          <a:off x="484632" y="1364937"/>
          <a:ext cx="11011897" cy="477614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79757">
                  <a:extLst>
                    <a:ext uri="{9D8B030D-6E8A-4147-A177-3AD203B41FA5}">
                      <a16:colId xmlns:a16="http://schemas.microsoft.com/office/drawing/2014/main" val="2175413709"/>
                    </a:ext>
                  </a:extLst>
                </a:gridCol>
                <a:gridCol w="2977380">
                  <a:extLst>
                    <a:ext uri="{9D8B030D-6E8A-4147-A177-3AD203B41FA5}">
                      <a16:colId xmlns:a16="http://schemas.microsoft.com/office/drawing/2014/main" val="133118053"/>
                    </a:ext>
                  </a:extLst>
                </a:gridCol>
                <a:gridCol w="2977380">
                  <a:extLst>
                    <a:ext uri="{9D8B030D-6E8A-4147-A177-3AD203B41FA5}">
                      <a16:colId xmlns:a16="http://schemas.microsoft.com/office/drawing/2014/main" val="3425178481"/>
                    </a:ext>
                  </a:extLst>
                </a:gridCol>
                <a:gridCol w="2977380">
                  <a:extLst>
                    <a:ext uri="{9D8B030D-6E8A-4147-A177-3AD203B41FA5}">
                      <a16:colId xmlns:a16="http://schemas.microsoft.com/office/drawing/2014/main" val="37850805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Author(s)</a:t>
                      </a:r>
                    </a:p>
                  </a:txBody>
                  <a:tcPr marL="60687" marR="60687" marT="30343" marB="30343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Paper</a:t>
                      </a:r>
                    </a:p>
                  </a:txBody>
                  <a:tcPr marL="60687" marR="60687" marT="30343" marB="30343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What it does</a:t>
                      </a:r>
                    </a:p>
                  </a:txBody>
                  <a:tcPr marL="60687" marR="60687" marT="30343" marB="30343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Limitation for SOC Verify</a:t>
                      </a:r>
                    </a:p>
                  </a:txBody>
                  <a:tcPr marL="60687" marR="60687" marT="30343" marB="30343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107630"/>
                  </a:ext>
                </a:extLst>
              </a:tr>
              <a:tr h="615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 err="1"/>
                        <a:t>Wickramasekara</a:t>
                      </a:r>
                      <a:r>
                        <a:rPr lang="en-IN" sz="1600" b="1" dirty="0"/>
                        <a:t> et al. (2024)</a:t>
                      </a:r>
                    </a:p>
                  </a:txBody>
                  <a:tcPr marL="60687" marR="60687" marT="30343" marB="3034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/>
                        <a:t>SoK</a:t>
                      </a:r>
                      <a:r>
                        <a:rPr lang="en-IN" sz="1600" dirty="0"/>
                        <a:t>: Exploring the Potential of Large Language Models for Improving Digital Forensic Investigation Efficiency</a:t>
                      </a:r>
                    </a:p>
                  </a:txBody>
                  <a:tcPr marL="60687" marR="60687" marT="30343" marB="3034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Studies how LLMs can improve forensic investigation efficiency</a:t>
                      </a:r>
                    </a:p>
                  </a:txBody>
                  <a:tcPr marL="60687" marR="60687" marT="30343" marB="3034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Reliability, hallucination and legal acceptance remain concerns.</a:t>
                      </a:r>
                    </a:p>
                  </a:txBody>
                  <a:tcPr marL="60687" marR="60687" marT="30343" marB="3034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047318"/>
                  </a:ext>
                </a:extLst>
              </a:tr>
              <a:tr h="799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Ramadan et al. (2025)</a:t>
                      </a:r>
                    </a:p>
                  </a:txBody>
                  <a:tcPr marL="60687" marR="60687" marT="30343" marB="3034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Reconstructing Judicial Digital Forensic Evidence Graphs Using LLMs</a:t>
                      </a:r>
                    </a:p>
                  </a:txBody>
                  <a:tcPr marL="60687" marR="60687" marT="30343" marB="3034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Uses LLMs to reconstruct relationships between forensic evidence.</a:t>
                      </a:r>
                    </a:p>
                  </a:txBody>
                  <a:tcPr marL="60687" marR="60687" marT="30343" marB="3034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Evaluated on only a small set of documents; no evidence-sufficiency mechanism.</a:t>
                      </a:r>
                    </a:p>
                  </a:txBody>
                  <a:tcPr marL="60687" marR="60687" marT="30343" marB="3034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25129"/>
                  </a:ext>
                </a:extLst>
              </a:tr>
              <a:tr h="799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 err="1"/>
                        <a:t>Murtuza</a:t>
                      </a:r>
                      <a:r>
                        <a:rPr lang="en-IN" sz="1600" b="1" dirty="0"/>
                        <a:t> (2025)</a:t>
                      </a:r>
                    </a:p>
                  </a:txBody>
                  <a:tcPr marL="60687" marR="60687" marT="30343" marB="3034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Scout: Leveraging Large Language Models for Rapid Digital Evidence Discovery</a:t>
                      </a:r>
                    </a:p>
                  </a:txBody>
                  <a:tcPr marL="60687" marR="60687" marT="30343" marB="3034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Uses LLMs for multimodal digital evidence discovery and investigation support.</a:t>
                      </a:r>
                    </a:p>
                  </a:txBody>
                  <a:tcPr marL="60687" marR="60687" marT="30343" marB="3034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Reports hallucination and false-positive/false-negative concerns.</a:t>
                      </a:r>
                    </a:p>
                  </a:txBody>
                  <a:tcPr marL="60687" marR="60687" marT="30343" marB="3034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636224"/>
                  </a:ext>
                </a:extLst>
              </a:tr>
              <a:tr h="615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 err="1"/>
                        <a:t>Shingade</a:t>
                      </a:r>
                      <a:r>
                        <a:rPr lang="en-IN" sz="1600" b="1" dirty="0"/>
                        <a:t> et al. (2025)</a:t>
                      </a:r>
                    </a:p>
                  </a:txBody>
                  <a:tcPr marL="60687" marR="60687" marT="30343" marB="3034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Enhancing Trust and Transparency in Digital Forensics using XAI</a:t>
                      </a:r>
                    </a:p>
                  </a:txBody>
                  <a:tcPr marL="60687" marR="60687" marT="30343" marB="3034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Explores explainable AI for trustworthy forensic investigation.</a:t>
                      </a:r>
                    </a:p>
                  </a:txBody>
                  <a:tcPr marL="60687" marR="60687" marT="30343" marB="3034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Mainly focuses on explainability; does not determine whether evidence is sufficient for a conclusion.</a:t>
                      </a:r>
                    </a:p>
                  </a:txBody>
                  <a:tcPr marL="60687" marR="60687" marT="30343" marB="3034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08193"/>
                  </a:ext>
                </a:extLst>
              </a:tr>
              <a:tr h="799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Chernyshev et al. (2026)</a:t>
                      </a:r>
                    </a:p>
                  </a:txBody>
                  <a:tcPr marL="60687" marR="60687" marT="30343" marB="3034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Large Language Models in Digital Forensics: Capabilities, Challenges and Future Directions</a:t>
                      </a:r>
                    </a:p>
                  </a:txBody>
                  <a:tcPr marL="60687" marR="60687" marT="30343" marB="3034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Reviews LLM applications and challenges in digital forensics.</a:t>
                      </a:r>
                    </a:p>
                  </a:txBody>
                  <a:tcPr marL="60687" marR="60687" marT="30343" marB="3034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Highlights uncertainty, privacy, explainability and forensic reliability gaps.</a:t>
                      </a:r>
                    </a:p>
                  </a:txBody>
                  <a:tcPr marL="60687" marR="60687" marT="30343" marB="3034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789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367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E1E7F-A22C-50B8-AC92-42B7600EA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0550601-B089-314C-4B5E-79F7DF13F2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488497"/>
            <a:ext cx="11585484" cy="5312467"/>
          </a:xfrm>
        </p:spPr>
        <p:txBody>
          <a:bodyPr/>
          <a:lstStyle/>
          <a:p>
            <a:pPr lvl="0"/>
            <a:r>
              <a:rPr lang="en-IN" sz="2500" dirty="0"/>
              <a:t>Recent studies show that AI and LLMs can assist digital forensic investigations through evidence extraction, discovery, correlation, summarization, and report generation. </a:t>
            </a:r>
          </a:p>
          <a:p>
            <a:pPr lvl="0"/>
            <a:r>
              <a:rPr lang="en-IN" sz="2500" dirty="0"/>
              <a:t>Evidence graphs and multimodal analysis help connect information from different forensic sources, but many studies use small, synthetic, or narrow datasets. </a:t>
            </a:r>
          </a:p>
          <a:p>
            <a:pPr lvl="0"/>
            <a:r>
              <a:rPr lang="en-IN" sz="2500" dirty="0"/>
              <a:t>Explainable AI improves transparency, but explanation faithfulness, stability, and forensic-user validation are still limited. </a:t>
            </a:r>
          </a:p>
          <a:p>
            <a:pPr lvl="0"/>
            <a:r>
              <a:rPr lang="en-IN" sz="2500" dirty="0"/>
              <a:t>LLM-based approaches still face hallucination, nondeterminism, privacy, and legal reliability issues. </a:t>
            </a:r>
          </a:p>
          <a:p>
            <a:pPr lvl="0"/>
            <a:r>
              <a:rPr lang="en-IN" sz="2500" dirty="0"/>
              <a:t>Existing research does not sufficiently address evidence sufficiency, conflicting evidence, uncertainty-aware decisions, and adaptive next-step investigation.</a:t>
            </a:r>
          </a:p>
          <a:p>
            <a:pPr marL="0" lvl="0" indent="0">
              <a:lnSpc>
                <a:spcPct val="100000"/>
              </a:lnSpc>
              <a:buNone/>
            </a:pPr>
            <a:endParaRPr lang="en-IN" sz="2500" dirty="0">
              <a:latin typeface="+mn-lt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5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7CD258-63C7-5EC3-A9F9-B39DA270EAC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425C34E-5253-12C9-1775-0675191594C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38FC23B-C7D6-C424-1062-0BF69409EC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017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E14C8-FC95-12E8-093F-0AA0B14B5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5DF7851-E047-F670-6E3B-54CF629E58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488497"/>
            <a:ext cx="11585484" cy="5312467"/>
          </a:xfrm>
        </p:spPr>
        <p:txBody>
          <a:bodyPr/>
          <a:lstStyle/>
          <a:p>
            <a:pPr lvl="0"/>
            <a:r>
              <a:rPr lang="en-IN" sz="2400" dirty="0"/>
              <a:t>Python — main development language </a:t>
            </a:r>
          </a:p>
          <a:p>
            <a:pPr lvl="0"/>
            <a:r>
              <a:rPr lang="en-IN" sz="2400" dirty="0"/>
              <a:t>Pandas — forensic evidence preprocessing </a:t>
            </a:r>
          </a:p>
          <a:p>
            <a:pPr lvl="0"/>
            <a:r>
              <a:rPr lang="en-IN" sz="2400" dirty="0"/>
              <a:t>python-</a:t>
            </a:r>
            <a:r>
              <a:rPr lang="en-IN" sz="2400" dirty="0" err="1"/>
              <a:t>evtx</a:t>
            </a:r>
            <a:r>
              <a:rPr lang="en-IN" sz="2400" dirty="0"/>
              <a:t> / SQLite parsing — log and browser evidence extraction </a:t>
            </a:r>
          </a:p>
          <a:p>
            <a:pPr lvl="0"/>
            <a:r>
              <a:rPr lang="en-IN" sz="2400" dirty="0" err="1"/>
              <a:t>NetworkX</a:t>
            </a:r>
            <a:r>
              <a:rPr lang="en-IN" sz="2400" dirty="0"/>
              <a:t> — evidence graph and cross-evidence correlation </a:t>
            </a:r>
          </a:p>
          <a:p>
            <a:pPr lvl="0"/>
            <a:r>
              <a:rPr lang="en-IN" sz="2400" dirty="0"/>
              <a:t>Sentence Transformers / </a:t>
            </a:r>
            <a:r>
              <a:rPr lang="en-IN" sz="2400" dirty="0" err="1"/>
              <a:t>ChromaDB</a:t>
            </a:r>
            <a:r>
              <a:rPr lang="en-IN" sz="2400" dirty="0"/>
              <a:t> — semantic evidence retrieval </a:t>
            </a:r>
          </a:p>
          <a:p>
            <a:pPr lvl="0"/>
            <a:r>
              <a:rPr lang="en-IN" sz="2400" dirty="0"/>
              <a:t>LLM — investigation hypothesis generation and explanation </a:t>
            </a:r>
          </a:p>
          <a:p>
            <a:pPr lvl="0"/>
            <a:r>
              <a:rPr lang="en-IN" sz="2400" dirty="0"/>
              <a:t>Custom evidence-sufficiency + conflict-detection logic — core research component </a:t>
            </a:r>
          </a:p>
          <a:p>
            <a:pPr lvl="0"/>
            <a:r>
              <a:rPr lang="en-IN" sz="2400" dirty="0" err="1"/>
              <a:t>FastAPI</a:t>
            </a:r>
            <a:r>
              <a:rPr lang="en-IN" sz="2400" dirty="0"/>
              <a:t> — backend integration </a:t>
            </a:r>
          </a:p>
          <a:p>
            <a:pPr lvl="0"/>
            <a:r>
              <a:rPr lang="en-IN" sz="2400" dirty="0" err="1"/>
              <a:t>Streamlit</a:t>
            </a:r>
            <a:r>
              <a:rPr lang="en-IN" sz="2400" dirty="0"/>
              <a:t> — investigation dashboard </a:t>
            </a:r>
          </a:p>
          <a:p>
            <a:pPr lvl="0"/>
            <a:r>
              <a:rPr lang="en-IN" sz="2400" dirty="0" err="1"/>
              <a:t>ReportLab</a:t>
            </a:r>
            <a:r>
              <a:rPr lang="en-IN" sz="2400" dirty="0"/>
              <a:t> / Jinja2 — forensic report generation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5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7A869F-095C-EEFF-3FF0-E111B1349BB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Technical Stack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15B3952-2469-9125-28D6-054FA9080A1B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8DE860B-DAB4-B152-F7E2-892D0D37C26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778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16A64-F726-9D15-743B-9149C48FA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2302B3-E399-8594-53D8-AC82768E29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2063" y="825710"/>
            <a:ext cx="10624338" cy="4142989"/>
          </a:xfrm>
        </p:spPr>
        <p:txBody>
          <a:bodyPr/>
          <a:lstStyle/>
          <a:p>
            <a:pPr marL="0" indent="0" algn="just">
              <a:buNone/>
            </a:pPr>
            <a:endParaRPr lang="en-IN" dirty="0">
              <a:latin typeface="Calibri "/>
            </a:endParaRPr>
          </a:p>
          <a:p>
            <a:pPr marL="0" indent="0" algn="just">
              <a:buNone/>
            </a:pPr>
            <a:r>
              <a:rPr lang="en-IN" dirty="0">
                <a:latin typeface="Calibri "/>
              </a:rPr>
              <a:t>Research Gaps:</a:t>
            </a:r>
          </a:p>
          <a:p>
            <a:pPr lvl="0"/>
            <a:r>
              <a:rPr lang="en-IN" sz="2700" dirty="0"/>
              <a:t>Existing AI/LLM forensic systems mainly focus on evidence extraction, discovery.</a:t>
            </a:r>
          </a:p>
          <a:p>
            <a:pPr lvl="0"/>
            <a:r>
              <a:rPr lang="en-IN" sz="2700" dirty="0"/>
              <a:t>Many studies use small, synthetic, private, or narrow-domain datasets, which limits generalization. </a:t>
            </a:r>
          </a:p>
          <a:p>
            <a:pPr lvl="0"/>
            <a:r>
              <a:rPr lang="en-IN" sz="2700" dirty="0"/>
              <a:t>Explainability is not sufficiently validated for faithfulness, stability, and investigator usefulness. </a:t>
            </a:r>
          </a:p>
          <a:p>
            <a:pPr lvl="0"/>
            <a:r>
              <a:rPr lang="en-IN" sz="2700" dirty="0"/>
              <a:t>Existing systems do not adequately handle incomplete, conflicting, or uncertain evidence, and calibrated abstention is still an open gap.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b="0" dirty="0">
              <a:solidFill>
                <a:srgbClr val="5583D1"/>
              </a:solidFill>
              <a:latin typeface="Calibri 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86BBDF-3BE2-DA28-8DED-0CCE8D47255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6FA0DB4-E8B2-7D80-660C-566DB1A84EE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BBC17FA-3379-8F3E-8EF7-85389349B1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Call Sense 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336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34637"/>
            <a:ext cx="11759220" cy="5465076"/>
          </a:xfrm>
        </p:spPr>
        <p:txBody>
          <a:bodyPr/>
          <a:lstStyle/>
          <a:p>
            <a:r>
              <a:rPr lang="en-IN" sz="2200" dirty="0">
                <a:solidFill>
                  <a:schemeClr val="tx1"/>
                </a:solidFill>
              </a:rPr>
              <a:t>Module 1 – Evidence Collection &amp; Preprocessing</a:t>
            </a:r>
            <a:br>
              <a:rPr lang="en-IN" sz="2200" dirty="0"/>
            </a:br>
            <a:r>
              <a:rPr lang="en-IN" sz="2200" dirty="0"/>
              <a:t>Collects digital evidence from different sources and converts it into a structured format for analysis.</a:t>
            </a:r>
          </a:p>
          <a:p>
            <a:r>
              <a:rPr lang="en-IN" sz="2200" dirty="0">
                <a:solidFill>
                  <a:schemeClr val="tx1"/>
                </a:solidFill>
              </a:rPr>
              <a:t>Module 2 – Forensic Artifact Extraction</a:t>
            </a:r>
            <a:br>
              <a:rPr lang="en-IN" sz="2200" dirty="0"/>
            </a:br>
            <a:r>
              <a:rPr lang="en-IN" sz="2200" dirty="0"/>
              <a:t>Extracts important forensic artifacts such as timestamps, files, browser activities, system logs, and network events.</a:t>
            </a:r>
          </a:p>
          <a:p>
            <a:r>
              <a:rPr lang="en-IN" sz="2200" dirty="0">
                <a:solidFill>
                  <a:schemeClr val="tx1"/>
                </a:solidFill>
              </a:rPr>
              <a:t>Module 3 – Cross-Evidence Correlation &amp; AI Reasoning</a:t>
            </a:r>
            <a:br>
              <a:rPr lang="en-IN" sz="2200" dirty="0"/>
            </a:br>
            <a:r>
              <a:rPr lang="en-IN" sz="2200" dirty="0"/>
              <a:t>Connects related artifacts from multiple evidence sources and uses AI/LLM assistance to generate investigation hypotheses.</a:t>
            </a:r>
          </a:p>
          <a:p>
            <a:r>
              <a:rPr lang="en-IN" sz="2200" dirty="0">
                <a:solidFill>
                  <a:schemeClr val="tx1"/>
                </a:solidFill>
              </a:rPr>
              <a:t>Module 4 – Evidence Sufficiency &amp; Conflict Analysis</a:t>
            </a:r>
            <a:br>
              <a:rPr lang="en-IN" sz="2200" dirty="0"/>
            </a:br>
            <a:r>
              <a:rPr lang="en-IN" sz="2200" dirty="0"/>
              <a:t>Checks whether the available evidence is sufficient, missing, or conflicting and identifies the next forensic analysis required.</a:t>
            </a:r>
          </a:p>
          <a:p>
            <a:r>
              <a:rPr lang="en-IN" sz="2200" dirty="0">
                <a:solidFill>
                  <a:schemeClr val="tx1"/>
                </a:solidFill>
              </a:rPr>
              <a:t>Module 5 – Investigation Verdict, Report &amp; Evaluation</a:t>
            </a:r>
            <a:br>
              <a:rPr lang="en-IN" sz="2200" dirty="0"/>
            </a:br>
            <a:r>
              <a:rPr lang="en-IN" sz="2200" dirty="0"/>
              <a:t>Produces a Verified, Insufficient, Conflicting, or Abstain decision and generates an explainable evidence-grounded forensic report.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20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1055</TotalTime>
  <Words>1794</Words>
  <Application>Microsoft Office PowerPoint</Application>
  <PresentationFormat>Widescreen</PresentationFormat>
  <Paragraphs>196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KAUSHIK B</dc:creator>
  <cp:lastModifiedBy>Kaushik B</cp:lastModifiedBy>
  <cp:revision>28</cp:revision>
  <dcterms:created xsi:type="dcterms:W3CDTF">2024-05-13T10:33:11Z</dcterms:created>
  <dcterms:modified xsi:type="dcterms:W3CDTF">2026-10-15T15:57:09Z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